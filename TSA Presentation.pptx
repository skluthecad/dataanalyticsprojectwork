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5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37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62C61F-E31A-4DCF-A7C7-1A8D6B15206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BA8F5E-3581-4E29-8D71-03DDAE87B3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expedited customer screening program is resulting in more complaints than ever before</a:t>
          </a:r>
        </a:p>
      </dgm:t>
    </dgm:pt>
    <dgm:pt modelId="{F902A7B5-CDED-4E6E-8D28-8213E0AB539E}" type="parTrans" cxnId="{4BB309B8-11EC-4EE1-B030-0BD4FFBBFD83}">
      <dgm:prSet/>
      <dgm:spPr/>
      <dgm:t>
        <a:bodyPr/>
        <a:lstStyle/>
        <a:p>
          <a:endParaRPr lang="en-US"/>
        </a:p>
      </dgm:t>
    </dgm:pt>
    <dgm:pt modelId="{AA186466-ACE1-42B4-B4F1-1355BC6F46E1}" type="sibTrans" cxnId="{4BB309B8-11EC-4EE1-B030-0BD4FFBBFD8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9B78D2E-7ECA-457B-AF8D-34AACDD89A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program needs to be revamped, and feedback incorporated into the program upon its relaunch</a:t>
          </a:r>
        </a:p>
      </dgm:t>
    </dgm:pt>
    <dgm:pt modelId="{A9E8E0B3-896D-411F-BCAF-636A99A61994}" type="parTrans" cxnId="{C64B038A-C735-4BC4-A581-2C8ABA763096}">
      <dgm:prSet/>
      <dgm:spPr/>
      <dgm:t>
        <a:bodyPr/>
        <a:lstStyle/>
        <a:p>
          <a:endParaRPr lang="en-US"/>
        </a:p>
      </dgm:t>
    </dgm:pt>
    <dgm:pt modelId="{30194599-EB31-4D74-B529-584E90CEA85D}" type="sibTrans" cxnId="{C64B038A-C735-4BC4-A581-2C8ABA76309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1FF3BE1-FA39-4D4E-A140-DDD960F280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Mishandling of customer property has improved greatly since 2015</a:t>
          </a:r>
        </a:p>
      </dgm:t>
    </dgm:pt>
    <dgm:pt modelId="{78549F9F-BEFC-4642-86CF-7A8A2C881711}" type="parTrans" cxnId="{8FCA4E6B-478C-4E41-BBBA-4221AC3924A8}">
      <dgm:prSet/>
      <dgm:spPr/>
      <dgm:t>
        <a:bodyPr/>
        <a:lstStyle/>
        <a:p>
          <a:endParaRPr lang="en-US"/>
        </a:p>
      </dgm:t>
    </dgm:pt>
    <dgm:pt modelId="{359B4B00-CA4D-4ABE-BE55-598D22DAACB4}" type="sibTrans" cxnId="{8FCA4E6B-478C-4E41-BBBA-4221AC3924A8}">
      <dgm:prSet/>
      <dgm:spPr/>
      <dgm:t>
        <a:bodyPr/>
        <a:lstStyle/>
        <a:p>
          <a:endParaRPr lang="en-US"/>
        </a:p>
      </dgm:t>
    </dgm:pt>
    <dgm:pt modelId="{E13AB48B-6E55-4F09-8628-4A49455C65E5}" type="pres">
      <dgm:prSet presAssocID="{B562C61F-E31A-4DCF-A7C7-1A8D6B15206A}" presName="root" presStyleCnt="0">
        <dgm:presLayoutVars>
          <dgm:dir/>
          <dgm:resizeHandles val="exact"/>
        </dgm:presLayoutVars>
      </dgm:prSet>
      <dgm:spPr/>
    </dgm:pt>
    <dgm:pt modelId="{C479362B-701B-4F20-A905-5C52F5D3F70F}" type="pres">
      <dgm:prSet presAssocID="{B562C61F-E31A-4DCF-A7C7-1A8D6B15206A}" presName="container" presStyleCnt="0">
        <dgm:presLayoutVars>
          <dgm:dir/>
          <dgm:resizeHandles val="exact"/>
        </dgm:presLayoutVars>
      </dgm:prSet>
      <dgm:spPr/>
    </dgm:pt>
    <dgm:pt modelId="{12E182DD-214D-45E3-B578-B822E5C67F89}" type="pres">
      <dgm:prSet presAssocID="{9DBA8F5E-3581-4E29-8D71-03DDAE87B37B}" presName="compNode" presStyleCnt="0"/>
      <dgm:spPr/>
    </dgm:pt>
    <dgm:pt modelId="{F22025C5-F0E7-4DBF-9A6C-857D97DBCCE2}" type="pres">
      <dgm:prSet presAssocID="{9DBA8F5E-3581-4E29-8D71-03DDAE87B37B}" presName="iconBgRect" presStyleLbl="bgShp" presStyleIdx="0" presStyleCnt="3"/>
      <dgm:spPr/>
    </dgm:pt>
    <dgm:pt modelId="{9E747F0D-2833-41CA-90BE-718FAF6C3331}" type="pres">
      <dgm:prSet presAssocID="{9DBA8F5E-3581-4E29-8D71-03DDAE87B37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C2B4386-F2A1-4CA3-9751-60646E6B0E1D}" type="pres">
      <dgm:prSet presAssocID="{9DBA8F5E-3581-4E29-8D71-03DDAE87B37B}" presName="spaceRect" presStyleCnt="0"/>
      <dgm:spPr/>
    </dgm:pt>
    <dgm:pt modelId="{9626B96E-87EF-4A44-823C-EDDD3F6EC442}" type="pres">
      <dgm:prSet presAssocID="{9DBA8F5E-3581-4E29-8D71-03DDAE87B37B}" presName="textRect" presStyleLbl="revTx" presStyleIdx="0" presStyleCnt="3">
        <dgm:presLayoutVars>
          <dgm:chMax val="1"/>
          <dgm:chPref val="1"/>
        </dgm:presLayoutVars>
      </dgm:prSet>
      <dgm:spPr/>
    </dgm:pt>
    <dgm:pt modelId="{791606DF-B783-442B-B25D-BAF8B7DDA537}" type="pres">
      <dgm:prSet presAssocID="{AA186466-ACE1-42B4-B4F1-1355BC6F46E1}" presName="sibTrans" presStyleLbl="sibTrans2D1" presStyleIdx="0" presStyleCnt="0"/>
      <dgm:spPr/>
    </dgm:pt>
    <dgm:pt modelId="{56E1D51F-0BC7-4C13-8C7A-19EFEF94E6EB}" type="pres">
      <dgm:prSet presAssocID="{49B78D2E-7ECA-457B-AF8D-34AACDD89ABC}" presName="compNode" presStyleCnt="0"/>
      <dgm:spPr/>
    </dgm:pt>
    <dgm:pt modelId="{496FB994-C425-49A0-AE3E-7534FF50A254}" type="pres">
      <dgm:prSet presAssocID="{49B78D2E-7ECA-457B-AF8D-34AACDD89ABC}" presName="iconBgRect" presStyleLbl="bgShp" presStyleIdx="1" presStyleCnt="3"/>
      <dgm:spPr/>
    </dgm:pt>
    <dgm:pt modelId="{420465B1-5600-4DA1-8244-AAEE56BCA825}" type="pres">
      <dgm:prSet presAssocID="{49B78D2E-7ECA-457B-AF8D-34AACDD89AB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C5750C06-AFF8-4D0A-BE29-E1A7A9DF6D32}" type="pres">
      <dgm:prSet presAssocID="{49B78D2E-7ECA-457B-AF8D-34AACDD89ABC}" presName="spaceRect" presStyleCnt="0"/>
      <dgm:spPr/>
    </dgm:pt>
    <dgm:pt modelId="{8B8B01B5-A5A3-4A14-9D2D-3B28B6A4639D}" type="pres">
      <dgm:prSet presAssocID="{49B78D2E-7ECA-457B-AF8D-34AACDD89ABC}" presName="textRect" presStyleLbl="revTx" presStyleIdx="1" presStyleCnt="3">
        <dgm:presLayoutVars>
          <dgm:chMax val="1"/>
          <dgm:chPref val="1"/>
        </dgm:presLayoutVars>
      </dgm:prSet>
      <dgm:spPr/>
    </dgm:pt>
    <dgm:pt modelId="{D270AE06-CAC3-4CCA-9061-B9D02421B4C4}" type="pres">
      <dgm:prSet presAssocID="{30194599-EB31-4D74-B529-584E90CEA85D}" presName="sibTrans" presStyleLbl="sibTrans2D1" presStyleIdx="0" presStyleCnt="0"/>
      <dgm:spPr/>
    </dgm:pt>
    <dgm:pt modelId="{317D22EB-43BC-4E0B-882C-152086A7D88E}" type="pres">
      <dgm:prSet presAssocID="{81FF3BE1-FA39-4D4E-A140-DDD960F2800D}" presName="compNode" presStyleCnt="0"/>
      <dgm:spPr/>
    </dgm:pt>
    <dgm:pt modelId="{6D1FE371-B195-4C13-A48E-F312DE1AD8ED}" type="pres">
      <dgm:prSet presAssocID="{81FF3BE1-FA39-4D4E-A140-DDD960F2800D}" presName="iconBgRect" presStyleLbl="bgShp" presStyleIdx="2" presStyleCnt="3"/>
      <dgm:spPr/>
    </dgm:pt>
    <dgm:pt modelId="{160D9682-B8C2-4D31-B3DD-41FA28DF6F81}" type="pres">
      <dgm:prSet presAssocID="{81FF3BE1-FA39-4D4E-A140-DDD960F2800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C4EA1F3B-7516-4926-A271-4CDCB32727AD}" type="pres">
      <dgm:prSet presAssocID="{81FF3BE1-FA39-4D4E-A140-DDD960F2800D}" presName="spaceRect" presStyleCnt="0"/>
      <dgm:spPr/>
    </dgm:pt>
    <dgm:pt modelId="{2548ED79-86B4-418D-A195-EC8F698B2965}" type="pres">
      <dgm:prSet presAssocID="{81FF3BE1-FA39-4D4E-A140-DDD960F2800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FAF9462-22A8-4F60-B608-26CEFD4D5719}" type="presOf" srcId="{49B78D2E-7ECA-457B-AF8D-34AACDD89ABC}" destId="{8B8B01B5-A5A3-4A14-9D2D-3B28B6A4639D}" srcOrd="0" destOrd="0" presId="urn:microsoft.com/office/officeart/2018/2/layout/IconCircleList"/>
    <dgm:cxn modelId="{8FCA4E6B-478C-4E41-BBBA-4221AC3924A8}" srcId="{B562C61F-E31A-4DCF-A7C7-1A8D6B15206A}" destId="{81FF3BE1-FA39-4D4E-A140-DDD960F2800D}" srcOrd="2" destOrd="0" parTransId="{78549F9F-BEFC-4642-86CF-7A8A2C881711}" sibTransId="{359B4B00-CA4D-4ABE-BE55-598D22DAACB4}"/>
    <dgm:cxn modelId="{892E187A-FA33-49F0-8145-0B05E7921ED8}" type="presOf" srcId="{9DBA8F5E-3581-4E29-8D71-03DDAE87B37B}" destId="{9626B96E-87EF-4A44-823C-EDDD3F6EC442}" srcOrd="0" destOrd="0" presId="urn:microsoft.com/office/officeart/2018/2/layout/IconCircleList"/>
    <dgm:cxn modelId="{9D59E186-012F-4002-A11C-95E49FB3C9DC}" type="presOf" srcId="{30194599-EB31-4D74-B529-584E90CEA85D}" destId="{D270AE06-CAC3-4CCA-9061-B9D02421B4C4}" srcOrd="0" destOrd="0" presId="urn:microsoft.com/office/officeart/2018/2/layout/IconCircleList"/>
    <dgm:cxn modelId="{C64B038A-C735-4BC4-A581-2C8ABA763096}" srcId="{B562C61F-E31A-4DCF-A7C7-1A8D6B15206A}" destId="{49B78D2E-7ECA-457B-AF8D-34AACDD89ABC}" srcOrd="1" destOrd="0" parTransId="{A9E8E0B3-896D-411F-BCAF-636A99A61994}" sibTransId="{30194599-EB31-4D74-B529-584E90CEA85D}"/>
    <dgm:cxn modelId="{4BB309B8-11EC-4EE1-B030-0BD4FFBBFD83}" srcId="{B562C61F-E31A-4DCF-A7C7-1A8D6B15206A}" destId="{9DBA8F5E-3581-4E29-8D71-03DDAE87B37B}" srcOrd="0" destOrd="0" parTransId="{F902A7B5-CDED-4E6E-8D28-8213E0AB539E}" sibTransId="{AA186466-ACE1-42B4-B4F1-1355BC6F46E1}"/>
    <dgm:cxn modelId="{065D3DBB-9737-4285-9DFD-648F7635E686}" type="presOf" srcId="{81FF3BE1-FA39-4D4E-A140-DDD960F2800D}" destId="{2548ED79-86B4-418D-A195-EC8F698B2965}" srcOrd="0" destOrd="0" presId="urn:microsoft.com/office/officeart/2018/2/layout/IconCircleList"/>
    <dgm:cxn modelId="{490E68C8-89BF-48D9-97C6-9DD8D0A871B1}" type="presOf" srcId="{AA186466-ACE1-42B4-B4F1-1355BC6F46E1}" destId="{791606DF-B783-442B-B25D-BAF8B7DDA537}" srcOrd="0" destOrd="0" presId="urn:microsoft.com/office/officeart/2018/2/layout/IconCircleList"/>
    <dgm:cxn modelId="{CBBDE5D3-4D7C-4C7D-9FC3-5BC7FD56716B}" type="presOf" srcId="{B562C61F-E31A-4DCF-A7C7-1A8D6B15206A}" destId="{E13AB48B-6E55-4F09-8628-4A49455C65E5}" srcOrd="0" destOrd="0" presId="urn:microsoft.com/office/officeart/2018/2/layout/IconCircleList"/>
    <dgm:cxn modelId="{724147FB-001B-427F-8521-B3805DED903C}" type="presParOf" srcId="{E13AB48B-6E55-4F09-8628-4A49455C65E5}" destId="{C479362B-701B-4F20-A905-5C52F5D3F70F}" srcOrd="0" destOrd="0" presId="urn:microsoft.com/office/officeart/2018/2/layout/IconCircleList"/>
    <dgm:cxn modelId="{F9CCFBF2-1C51-4AEE-AB0F-A34C6160A4AA}" type="presParOf" srcId="{C479362B-701B-4F20-A905-5C52F5D3F70F}" destId="{12E182DD-214D-45E3-B578-B822E5C67F89}" srcOrd="0" destOrd="0" presId="urn:microsoft.com/office/officeart/2018/2/layout/IconCircleList"/>
    <dgm:cxn modelId="{B5E74F3B-C408-4FF6-97E5-952ECF09C544}" type="presParOf" srcId="{12E182DD-214D-45E3-B578-B822E5C67F89}" destId="{F22025C5-F0E7-4DBF-9A6C-857D97DBCCE2}" srcOrd="0" destOrd="0" presId="urn:microsoft.com/office/officeart/2018/2/layout/IconCircleList"/>
    <dgm:cxn modelId="{67B20E48-FB19-49C2-93B7-3AFF0958620B}" type="presParOf" srcId="{12E182DD-214D-45E3-B578-B822E5C67F89}" destId="{9E747F0D-2833-41CA-90BE-718FAF6C3331}" srcOrd="1" destOrd="0" presId="urn:microsoft.com/office/officeart/2018/2/layout/IconCircleList"/>
    <dgm:cxn modelId="{1CA51189-9633-48AD-8993-BCBA77775F83}" type="presParOf" srcId="{12E182DD-214D-45E3-B578-B822E5C67F89}" destId="{3C2B4386-F2A1-4CA3-9751-60646E6B0E1D}" srcOrd="2" destOrd="0" presId="urn:microsoft.com/office/officeart/2018/2/layout/IconCircleList"/>
    <dgm:cxn modelId="{182B0E8A-CE56-46B0-86DC-E3B160A7A6FD}" type="presParOf" srcId="{12E182DD-214D-45E3-B578-B822E5C67F89}" destId="{9626B96E-87EF-4A44-823C-EDDD3F6EC442}" srcOrd="3" destOrd="0" presId="urn:microsoft.com/office/officeart/2018/2/layout/IconCircleList"/>
    <dgm:cxn modelId="{64809435-D665-4DFA-97FC-F63DD79CBEA5}" type="presParOf" srcId="{C479362B-701B-4F20-A905-5C52F5D3F70F}" destId="{791606DF-B783-442B-B25D-BAF8B7DDA537}" srcOrd="1" destOrd="0" presId="urn:microsoft.com/office/officeart/2018/2/layout/IconCircleList"/>
    <dgm:cxn modelId="{6533F424-852B-4331-900D-A1D9F4621FD0}" type="presParOf" srcId="{C479362B-701B-4F20-A905-5C52F5D3F70F}" destId="{56E1D51F-0BC7-4C13-8C7A-19EFEF94E6EB}" srcOrd="2" destOrd="0" presId="urn:microsoft.com/office/officeart/2018/2/layout/IconCircleList"/>
    <dgm:cxn modelId="{AE7ACC18-F61F-4EF2-8CF1-772AA996322C}" type="presParOf" srcId="{56E1D51F-0BC7-4C13-8C7A-19EFEF94E6EB}" destId="{496FB994-C425-49A0-AE3E-7534FF50A254}" srcOrd="0" destOrd="0" presId="urn:microsoft.com/office/officeart/2018/2/layout/IconCircleList"/>
    <dgm:cxn modelId="{CDA3FD37-08A7-443C-8F5A-776EC28254DF}" type="presParOf" srcId="{56E1D51F-0BC7-4C13-8C7A-19EFEF94E6EB}" destId="{420465B1-5600-4DA1-8244-AAEE56BCA825}" srcOrd="1" destOrd="0" presId="urn:microsoft.com/office/officeart/2018/2/layout/IconCircleList"/>
    <dgm:cxn modelId="{F83A65B3-BAED-4529-8A7A-F12B3F3778BA}" type="presParOf" srcId="{56E1D51F-0BC7-4C13-8C7A-19EFEF94E6EB}" destId="{C5750C06-AFF8-4D0A-BE29-E1A7A9DF6D32}" srcOrd="2" destOrd="0" presId="urn:microsoft.com/office/officeart/2018/2/layout/IconCircleList"/>
    <dgm:cxn modelId="{09C827A8-BBB2-4E9A-8991-6598F94A2525}" type="presParOf" srcId="{56E1D51F-0BC7-4C13-8C7A-19EFEF94E6EB}" destId="{8B8B01B5-A5A3-4A14-9D2D-3B28B6A4639D}" srcOrd="3" destOrd="0" presId="urn:microsoft.com/office/officeart/2018/2/layout/IconCircleList"/>
    <dgm:cxn modelId="{33730CFD-9D1D-4350-911E-88FF9EC11F8B}" type="presParOf" srcId="{C479362B-701B-4F20-A905-5C52F5D3F70F}" destId="{D270AE06-CAC3-4CCA-9061-B9D02421B4C4}" srcOrd="3" destOrd="0" presId="urn:microsoft.com/office/officeart/2018/2/layout/IconCircleList"/>
    <dgm:cxn modelId="{F773072B-9DE9-477B-961B-5C974209383F}" type="presParOf" srcId="{C479362B-701B-4F20-A905-5C52F5D3F70F}" destId="{317D22EB-43BC-4E0B-882C-152086A7D88E}" srcOrd="4" destOrd="0" presId="urn:microsoft.com/office/officeart/2018/2/layout/IconCircleList"/>
    <dgm:cxn modelId="{57DC7837-022F-4E0C-814E-22B3C778734C}" type="presParOf" srcId="{317D22EB-43BC-4E0B-882C-152086A7D88E}" destId="{6D1FE371-B195-4C13-A48E-F312DE1AD8ED}" srcOrd="0" destOrd="0" presId="urn:microsoft.com/office/officeart/2018/2/layout/IconCircleList"/>
    <dgm:cxn modelId="{5D71B64E-00A0-4960-940E-8577FC4E9CE3}" type="presParOf" srcId="{317D22EB-43BC-4E0B-882C-152086A7D88E}" destId="{160D9682-B8C2-4D31-B3DD-41FA28DF6F81}" srcOrd="1" destOrd="0" presId="urn:microsoft.com/office/officeart/2018/2/layout/IconCircleList"/>
    <dgm:cxn modelId="{81849D74-C195-4E4C-89FD-1BE2DA2DE893}" type="presParOf" srcId="{317D22EB-43BC-4E0B-882C-152086A7D88E}" destId="{C4EA1F3B-7516-4926-A271-4CDCB32727AD}" srcOrd="2" destOrd="0" presId="urn:microsoft.com/office/officeart/2018/2/layout/IconCircleList"/>
    <dgm:cxn modelId="{78F6C518-545D-4EDA-9CE4-6E7EC5CEE893}" type="presParOf" srcId="{317D22EB-43BC-4E0B-882C-152086A7D88E}" destId="{2548ED79-86B4-418D-A195-EC8F698B296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2025C5-F0E7-4DBF-9A6C-857D97DBCCE2}">
      <dsp:nvSpPr>
        <dsp:cNvPr id="0" name=""/>
        <dsp:cNvSpPr/>
      </dsp:nvSpPr>
      <dsp:spPr>
        <a:xfrm>
          <a:off x="82613" y="1727046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47F0D-2833-41CA-90BE-718FAF6C3331}">
      <dsp:nvSpPr>
        <dsp:cNvPr id="0" name=""/>
        <dsp:cNvSpPr/>
      </dsp:nvSpPr>
      <dsp:spPr>
        <a:xfrm>
          <a:off x="271034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26B96E-87EF-4A44-823C-EDDD3F6EC442}">
      <dsp:nvSpPr>
        <dsp:cNvPr id="0" name=""/>
        <dsp:cNvSpPr/>
      </dsp:nvSpPr>
      <dsp:spPr>
        <a:xfrm>
          <a:off x="1172126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The expedited customer screening program is resulting in more complaints than ever before</a:t>
          </a:r>
        </a:p>
      </dsp:txBody>
      <dsp:txXfrm>
        <a:off x="1172126" y="1727046"/>
        <a:ext cx="2114937" cy="897246"/>
      </dsp:txXfrm>
    </dsp:sp>
    <dsp:sp modelId="{496FB994-C425-49A0-AE3E-7534FF50A254}">
      <dsp:nvSpPr>
        <dsp:cNvPr id="0" name=""/>
        <dsp:cNvSpPr/>
      </dsp:nvSpPr>
      <dsp:spPr>
        <a:xfrm>
          <a:off x="3655575" y="1727046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0465B1-5600-4DA1-8244-AAEE56BCA825}">
      <dsp:nvSpPr>
        <dsp:cNvPr id="0" name=""/>
        <dsp:cNvSpPr/>
      </dsp:nvSpPr>
      <dsp:spPr>
        <a:xfrm>
          <a:off x="3843996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B01B5-A5A3-4A14-9D2D-3B28B6A4639D}">
      <dsp:nvSpPr>
        <dsp:cNvPr id="0" name=""/>
        <dsp:cNvSpPr/>
      </dsp:nvSpPr>
      <dsp:spPr>
        <a:xfrm>
          <a:off x="4745088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program needs to be revamped, and feedback incorporated into the program upon its relaunch</a:t>
          </a:r>
        </a:p>
      </dsp:txBody>
      <dsp:txXfrm>
        <a:off x="4745088" y="1727046"/>
        <a:ext cx="2114937" cy="897246"/>
      </dsp:txXfrm>
    </dsp:sp>
    <dsp:sp modelId="{6D1FE371-B195-4C13-A48E-F312DE1AD8ED}">
      <dsp:nvSpPr>
        <dsp:cNvPr id="0" name=""/>
        <dsp:cNvSpPr/>
      </dsp:nvSpPr>
      <dsp:spPr>
        <a:xfrm>
          <a:off x="7228536" y="1727046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0D9682-B8C2-4D31-B3DD-41FA28DF6F81}">
      <dsp:nvSpPr>
        <dsp:cNvPr id="0" name=""/>
        <dsp:cNvSpPr/>
      </dsp:nvSpPr>
      <dsp:spPr>
        <a:xfrm>
          <a:off x="7416958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8ED79-86B4-418D-A195-EC8F698B2965}">
      <dsp:nvSpPr>
        <dsp:cNvPr id="0" name=""/>
        <dsp:cNvSpPr/>
      </dsp:nvSpPr>
      <dsp:spPr>
        <a:xfrm>
          <a:off x="8318049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Mishandling of customer property has improved greatly since 2015</a:t>
          </a:r>
        </a:p>
      </dsp:txBody>
      <dsp:txXfrm>
        <a:off x="8318049" y="1727046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71FC-124D-73D6-FAED-7A58E4CFE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DCA9A-ED2C-A3B0-B38D-74451A5F0B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78A20-D84C-D054-AAFA-A33945F61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D128-D2ED-4004-9BF3-DC56BB1213D0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CD26F-DF4F-6D56-A05E-BD2B5E59F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B9587-551C-A320-4C44-9F8512D7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D5DD-35A9-47E5-A0D7-58C7713443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46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FC23A-F3C9-5900-BBCA-CFF1B5565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63903-FD51-E148-54D2-4BD5807C5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CBC2E-D3AC-FE82-27EF-B7D3AB63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D128-D2ED-4004-9BF3-DC56BB1213D0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72104-731F-1883-A904-42CAF4F3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ADAA4-6BD5-859B-4F8B-7F74E393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D5DD-35A9-47E5-A0D7-58C7713443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944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AE399-EC22-BE8F-2137-51600A67D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7DAC9-44BD-BC2C-9947-5A9E374BF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8808A-7F14-2545-D789-5B64EAD20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D128-D2ED-4004-9BF3-DC56BB1213D0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323BA-8EEF-331D-4E1F-E6DABAA4E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66FCB-0461-1AB3-D9E2-A5AB9F39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D5DD-35A9-47E5-A0D7-58C7713443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386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6E84-A2AD-AC8C-C7B0-BA2183BD4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F99A4-99D1-BD81-4385-9816A4F30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1EDA8-FB6C-7067-61B0-87EC07711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0BEF8-CECF-AFD2-8033-511DB1EC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D128-D2ED-4004-9BF3-DC56BB1213D0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93ADE-245D-348B-FC39-5CB2A381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050A6-6800-82FB-B70A-BF6F9FBF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D5DD-35A9-47E5-A0D7-58C7713443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264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3A7A2-020C-CE99-D87D-A536F9C3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31DAE-E5A9-0635-9F01-FFAF626A1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62010-9513-5F4F-280E-52231DC1E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E60DB1-579B-1C4B-4C1B-12E1F2EF3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AB8AEF-67A6-679C-5B7C-D9B1B9DFA5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D49582-AC06-8E51-2616-FF536550C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D128-D2ED-4004-9BF3-DC56BB1213D0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38F6F-2061-87E8-163E-FAC88507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31305-CAAC-E2A3-59A7-0EABE7A0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D5DD-35A9-47E5-A0D7-58C7713443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6563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BE334-F6E2-7194-4D0C-9CC26B14B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01BE0-FEDC-A117-75DA-3FA588C1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D128-D2ED-4004-9BF3-DC56BB1213D0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F4D89E-6083-05F3-9296-1D9E8AA86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98FD0-8B39-83C6-4C37-4C749150B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D5DD-35A9-47E5-A0D7-58C7713443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607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3EB64-A10C-A3DD-B2BA-E44E9CA45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D128-D2ED-4004-9BF3-DC56BB1213D0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43AC69-FE09-D5E3-95D3-251915C64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D24BC-49BC-D212-0CF9-33938AEE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D5DD-35A9-47E5-A0D7-58C7713443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2793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D72AF-0A51-E934-2455-545B2F608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B1581-9921-A6BB-403C-9AD562D46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3FAA4-597C-1D67-5B23-9027EB894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5E488-DE96-7FD3-148D-119DAACF1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D128-D2ED-4004-9BF3-DC56BB1213D0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3C3B8-6B39-48BB-C22E-D951D83F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69A-1996-58E5-8BAD-AFFF2E1A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D5DD-35A9-47E5-A0D7-58C7713443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247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ADA4-4EDB-EC76-AEDE-43D2BF368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177C76-D7B0-73A5-F12D-3842774E79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A9274-6A76-B04B-7B40-3AC5035A3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ECAB3-AF81-B99C-B62B-E5A4F3850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D128-D2ED-4004-9BF3-DC56BB1213D0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9804F-498D-3461-7CDA-DA0BFF304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77956-477E-402F-90B9-839788D3F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D5DD-35A9-47E5-A0D7-58C7713443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0659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EC50C-B76D-F0C9-5D7F-1B993DC55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B6D45F-B745-B41D-27E3-DACF4909A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40307-140F-9F9C-6C31-D67760BB1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D128-D2ED-4004-9BF3-DC56BB1213D0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2FB63-4FF0-2837-718E-48709A9E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64902-04F0-1B84-51A4-96DEE591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D5DD-35A9-47E5-A0D7-58C7713443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4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3B5B5-BBF2-E483-67C3-91E08E0C3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AA95B-49E9-3CD0-EE21-02555D5EE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460AB-25FF-41E2-8798-8BFA5AF2C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0D128-D2ED-4004-9BF3-DC56BB1213D0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9271A-B524-ADD4-EC17-EFB4AF58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F0F8A-1484-CD98-7152-AB07BCB27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D5DD-35A9-47E5-A0D7-58C7713443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0965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5C438B-6196-36ED-3F94-A3C9B8AA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17871-C313-848D-C161-2D6F69FA9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6FA15-DF33-7E03-765C-0C9D055A2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0D128-D2ED-4004-9BF3-DC56BB1213D0}" type="datetimeFigureOut">
              <a:rPr lang="en-CA" smtClean="0"/>
              <a:t>2026-02-16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1A776-C74F-DED8-D333-FD693B2DF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39867-180B-1F14-04EA-8D43AA2A2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5DD5DD-35A9-47E5-A0D7-58C7713443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584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rt with luggage">
            <a:extLst>
              <a:ext uri="{FF2B5EF4-FFF2-40B4-BE49-F238E27FC236}">
                <a16:creationId xmlns:a16="http://schemas.microsoft.com/office/drawing/2014/main" id="{EE95A7DE-90CA-2DB8-118C-B6905781CA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86" b="944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1A0260-8045-6720-AC18-2FD7967F8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TSA Complaints</a:t>
            </a:r>
            <a:endParaRPr lang="en-CA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61A0D-CE22-195E-85C5-EB1DBD6D7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Program Success </a:t>
            </a:r>
            <a:endParaRPr lang="en-CA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330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5EBAF-8E44-7E78-40F7-8F0621E74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Complaints related to Expedited Passenger Screening represent one of the largest complaint categories in the dataset.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0B6AA-EB79-CEEF-49FA-E6F7F7FF8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655" y="643466"/>
            <a:ext cx="4984021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29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95D4D-C425-68BD-92F2-F42814B42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F9CB9-5BDB-84A8-EC1E-E71A350D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Interestingly, Expedited Passenger Screening continues to dominate even at the subcategory level, remaining the single largest generator of complaints and suggesting that the subcategory classifications may lack sufficient differentiation.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BFB52C-FCDE-9C89-889D-04CC2BCDF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147825"/>
            <a:ext cx="6780700" cy="456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28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267D57-1042-3D42-F46A-926609AA6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300" dirty="0">
                <a:solidFill>
                  <a:srgbClr val="FFFFFF"/>
                </a:solidFill>
              </a:rPr>
              <a:t>United States Dominates Complaints Worldwide</a:t>
            </a:r>
            <a:endParaRPr lang="en-CA" sz="3300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795A2-2225-4DC6-6F4A-A0A42C4C3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622474"/>
            <a:ext cx="6780700" cy="361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84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EB9C31-C4B6-9AD2-50AD-BE25E1DBF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888" y="455843"/>
            <a:ext cx="9907383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384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ED281C-D383-88B8-1DDC-AFD1981BA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82" y="828312"/>
            <a:ext cx="10650436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80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AEE46-8AEC-BEB3-8526-955FD5C7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5BE2C0-EBEE-6077-F25D-68AB208F0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3700"/>
              <a:t>More Complaints Equals More Feedback Opportunities 	</a:t>
            </a:r>
            <a:endParaRPr lang="en-CA" sz="37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8F7613A-9819-64AD-3BB8-98A0E41F4B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0" y="2470244"/>
            <a:ext cx="5334197" cy="3769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Higher complaint volumes provide a larger pool of customer feedback to analyze and interpret.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Increased complaints can reveal recurring operational weaknesses that may otherwise go unnoticed.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 greater volume of feedback allows for more reliable trend identification and pattern detection.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Complaints offer direct insight into customer experience gaps and service friction points.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When leveraged effectively, higher complaint frequency can serve as a catalyst for targeted process improvement and policy refinement.</a:t>
            </a:r>
          </a:p>
        </p:txBody>
      </p:sp>
      <p:pic>
        <p:nvPicPr>
          <p:cNvPr id="7" name="Picture 6" descr="Question mark boxes">
            <a:extLst>
              <a:ext uri="{FF2B5EF4-FFF2-40B4-BE49-F238E27FC236}">
                <a16:creationId xmlns:a16="http://schemas.microsoft.com/office/drawing/2014/main" id="{35F8A169-DBE1-4722-4E86-1E223D9DB1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00" r="25217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2935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063BA-FC12-DF08-B577-28613D020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50" y="775917"/>
            <a:ext cx="10745700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5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0DC6-04FF-43FB-3BB7-1AB62A597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Shift in Complaints	</a:t>
            </a: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69007C-0826-FC6B-778D-7FB7DECF6C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915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EE168-545E-5ABF-B02D-2F2C6ACAC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Call to Action	</a:t>
            </a:r>
            <a:endParaRPr lang="en-CA" sz="4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D43821-C21A-4EDD-CB75-A3661DC7B0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0" y="2470244"/>
            <a:ext cx="5334197" cy="3769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Establish a cross-functional review committee to systematically evaluate complaint data and identify recurring themes.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Conduct structured root-cause analysis to determine the underlying drivers of high-volume complaint categories.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Prioritize an in-depth assessment of the Expedited Passenger Screening program as the primary focus area.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Develop targeted process improvements and monitoring mechanisms to reduce recurring screening-related complaints.</a:t>
            </a:r>
          </a:p>
        </p:txBody>
      </p:sp>
      <p:pic>
        <p:nvPicPr>
          <p:cNvPr id="7" name="Picture 6" descr="Magnifying glass showing decling performance">
            <a:extLst>
              <a:ext uri="{FF2B5EF4-FFF2-40B4-BE49-F238E27FC236}">
                <a16:creationId xmlns:a16="http://schemas.microsoft.com/office/drawing/2014/main" id="{26ACCF52-E0A8-17D5-AAD1-CB6A1E7520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00" r="39364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5373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246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TSA Complaints</vt:lpstr>
      <vt:lpstr>Complaints related to Expedited Passenger Screening represent one of the largest complaint categories in the dataset.</vt:lpstr>
      <vt:lpstr>Interestingly, Expedited Passenger Screening continues to dominate even at the subcategory level, remaining the single largest generator of complaints and suggesting that the subcategory classifications may lack sufficient differentiation.</vt:lpstr>
      <vt:lpstr>United States Dominates Complaints Worldwide</vt:lpstr>
      <vt:lpstr>PowerPoint Presentation</vt:lpstr>
      <vt:lpstr>PowerPoint Presentation</vt:lpstr>
      <vt:lpstr>More Complaints Equals More Feedback Opportunities  </vt:lpstr>
      <vt:lpstr>PowerPoint Presentation</vt:lpstr>
      <vt:lpstr>Major Shift in Complaints </vt:lpstr>
      <vt:lpstr>Call to Action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Kluthe</dc:creator>
  <cp:lastModifiedBy>Sam Kluthe</cp:lastModifiedBy>
  <cp:revision>1</cp:revision>
  <dcterms:created xsi:type="dcterms:W3CDTF">2026-02-16T20:00:58Z</dcterms:created>
  <dcterms:modified xsi:type="dcterms:W3CDTF">2026-02-16T20:36:34Z</dcterms:modified>
</cp:coreProperties>
</file>